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Baseload PPA Analysis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657600" y="2377440"/>
            <a:ext cx="182880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+ Wind + Battery Energy Storage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SE3 Sweden | 2024 Analysis | 1 MW Solar + 1 MW Wind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baseload is impractical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requires 109 MWh battery (seasonal storage)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baseload is the sweet spot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only 8 MWh battery needed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60320"/>
            <a:ext cx="73152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nights are critical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not winter as commonly assumed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2560320" cy="1097280"/>
          </a:xfrm>
          <a:prstGeom prst="rect">
            <a:avLst/>
          </a:prstGeom>
          <a:solidFill>
            <a:srgbClr val="E8F6F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Capacity Factor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3474720"/>
            <a:ext cx="2560320" cy="1097280"/>
          </a:xfrm>
          <a:prstGeom prst="rect">
            <a:avLst/>
          </a:prstGeom>
          <a:solidFill>
            <a:srgbClr val="E8F6F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MWh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9184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for 80% Baseload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474720"/>
            <a:ext cx="2560320" cy="1097280"/>
          </a:xfrm>
          <a:prstGeom prst="rect">
            <a:avLst/>
          </a:prstGeom>
          <a:solidFill>
            <a:srgbClr val="E8F6F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13x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Battery for 100% vs 80%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Baseload PPA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Baseload PPA?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 Purchase Agreement that guarantees constant power delivery 24/7/365, regardless of weather conditions.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pay-as-produced contracts, the seller bears all volume risk.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4114800" cy="1463040"/>
          </a:xfrm>
          <a:prstGeom prst="rect">
            <a:avLst/>
          </a:prstGeom>
          <a:solidFill>
            <a:srgbClr val="FEF5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Solar only produces during daytime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Wind varies unpredictably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Combined output still fluctuates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Gaps must be filled somehow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Question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large a battery is needed to guarantee baseload delivery from solar + wind?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3931920" cy="1828800"/>
          </a:xfrm>
          <a:prstGeom prst="rect">
            <a:avLst/>
          </a:prstGeom>
          <a:solidFill>
            <a:srgbClr val="E8F6F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6517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MW solar (PVsyst profile)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MW wind (ENTSO-E actual data)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Hourly simulation for full year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Calculate max cumulative deficit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different baseload levels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Profile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PVsyst simulation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south_lundby.csv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CF: 11.5%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25880"/>
            <a:ext cx="2651760" cy="5486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Profile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ENTSO-E actual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SE3 2024 normalized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CF: 30.0%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5176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325880"/>
            <a:ext cx="2651760" cy="5486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year 2024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8,784 hours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resolution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Sizing Algorithm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260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Drawdown Method: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deficit[t] = max(0, baseload - production[t])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cumsum[t] = cumsum[t-1] + (production[t] - baseload)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battery_size = max(peak_cumsum - cumsum[t]) for all 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2011680" cy="640080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69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Installed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MW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51760" y="4023360"/>
            <a:ext cx="2011680" cy="640080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4069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Installed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51760" y="4297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MW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4023360"/>
            <a:ext cx="2011680" cy="640080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4069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Production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4297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0.415 MW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40880" y="4023360"/>
            <a:ext cx="2011680" cy="640080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4069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Output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4297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3,647 MWh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Battery Sizing vs Baseload Level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Scaling of Battery Requirements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Baseload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Baseload (MW)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Deficit Hours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Deficit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(MWh)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hours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hours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 days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 days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5,671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 days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from 80% to 100% baseload increases battery need by 13x (8 → 109 MWh)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Summer Nights Are the Bottleneck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Counter-Intuitive Finding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challenging periods are summer nights (July-August), NOT winter darkness!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Summer Nights?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Weaker summer winds - reduced pressure gradients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Anticyclones persist - high pressure for days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Solar = zero at night - regardless of season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Dunkelflaute - extended low wind + no sun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Periods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50% baseload: July 23-24 (16 hours)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80% baseload: Nov 6-9 (69 hours)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baseload: Multiple weeks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Hours by Month (10% worst)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2286000" cy="228600"/>
          </a:xfrm>
          <a:prstGeom prst="rect">
            <a:avLst/>
          </a:prstGeom>
          <a:solidFill>
            <a:srgbClr val="E5E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417320"/>
            <a:ext cx="205740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371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17556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801368"/>
            <a:ext cx="2286000" cy="228600"/>
          </a:xfrm>
          <a:prstGeom prst="rect">
            <a:avLst/>
          </a:prstGeom>
          <a:solidFill>
            <a:srgbClr val="E5E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801368"/>
            <a:ext cx="152400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24800" y="1755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0" y="21396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2185416"/>
            <a:ext cx="2286000" cy="228600"/>
          </a:xfrm>
          <a:prstGeom prst="rect">
            <a:avLst/>
          </a:prstGeom>
          <a:solidFill>
            <a:srgbClr val="E5E8E8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2185416"/>
            <a:ext cx="129540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7696200" y="213969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25237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569464"/>
            <a:ext cx="2286000" cy="228600"/>
          </a:xfrm>
          <a:prstGeom prst="rect">
            <a:avLst/>
          </a:prstGeom>
          <a:solidFill>
            <a:srgbClr val="E5E8E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2569464"/>
            <a:ext cx="914400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25237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29077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953512"/>
            <a:ext cx="2286000" cy="228600"/>
          </a:xfrm>
          <a:prstGeom prst="rect">
            <a:avLst/>
          </a:prstGeom>
          <a:solidFill>
            <a:srgbClr val="E5E8E8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2953512"/>
            <a:ext cx="762000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7162800" y="2907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3337560"/>
            <a:ext cx="2286000" cy="228600"/>
          </a:xfrm>
          <a:prstGeom prst="rect">
            <a:avLst/>
          </a:prstGeom>
          <a:solidFill>
            <a:srgbClr val="E5E8E8"/>
          </a:solidFill>
          <a:ln/>
        </p:spPr>
      </p:sp>
      <p:sp>
        <p:nvSpPr>
          <p:cNvPr id="34" name="Shape 32"/>
          <p:cNvSpPr/>
          <p:nvPr/>
        </p:nvSpPr>
        <p:spPr>
          <a:xfrm>
            <a:off x="6309360" y="3337560"/>
            <a:ext cx="609600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7010400" y="3291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3721608"/>
            <a:ext cx="2286000" cy="228600"/>
          </a:xfrm>
          <a:prstGeom prst="rect">
            <a:avLst/>
          </a:prstGeom>
          <a:solidFill>
            <a:srgbClr val="E5E8E8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3721608"/>
            <a:ext cx="76200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6477000" y="36758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10% Pass Reduces Battery 50-100%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Allowing Non-Delivery Hours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PPA allows 10% non-delivery (878 hours/year), battery requirements drop dramatically: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146304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Baseload Level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Delivery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 Delivery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Reduction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(0.208 MW)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 MWh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MWh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 (0.332 MW)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 MWh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 MWh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(0.415 MW)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 MWh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 MWh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83280"/>
            <a:ext cx="3931920" cy="914400"/>
          </a:xfrm>
          <a:prstGeom prst="rect">
            <a:avLst/>
          </a:prstGeom>
          <a:solidFill>
            <a:srgbClr val="E8F6F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383280"/>
            <a:ext cx="73152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520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 </a:t>
            </a:r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worst 10% of hours drive most of the battery requirement. Small contractual flexibility yields outsized savings.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3383280"/>
            <a:ext cx="3931920" cy="914400"/>
          </a:xfrm>
          <a:prstGeom prst="rect">
            <a:avLst/>
          </a:prstGeom>
          <a:solidFill>
            <a:srgbClr val="E8F6F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3383280"/>
            <a:ext cx="73152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3520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 for pass hours in PPA contracts - even small allowances save significant capital.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80% Baseload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balance between delivery guarantee and capital cost. 8 MWh battery vs 109 MWh for 100%.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25880"/>
            <a:ext cx="265176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 Pass Hours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pass allowance reduces battery by 50-100%. Focus on summer night flexibility.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5176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325880"/>
            <a:ext cx="265176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Solar/Wind Ratio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complementarity for SE3. Solar covers days, wind covers nights/winter.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PPA Structure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8229600" cy="13716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PPA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Need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Allocation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Pay-as-produced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MWh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 takes volume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 baseload + 10%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 MWh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baseload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 MWh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takes all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Data Sources and Parameters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Production Profile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PVsyst simulation - south_lundby.csv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South-facing fixed tilt, SE3 irradiance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41148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84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Production Profile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13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ENTSO-E Transparency Platform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SE3 actual generation 2024, normalized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52344"/>
            <a:ext cx="41148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7980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Prices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elprisetjustnu.se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SE3 hourly spot prices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41148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112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Period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739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year 2024 (leap year)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8,784 hours, hourly resolution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Parameters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840480" cy="192024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</a:tblGrid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Installed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 MW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 Installed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 MW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Capacity 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 Capacity 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Capacity 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0.415 MW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3,647 MWh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BESS Round-trip Efficiency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846320" y="3383280"/>
            <a:ext cx="3840480" cy="10058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0" name="Text 17"/>
          <p:cNvSpPr/>
          <p:nvPr/>
        </p:nvSpPr>
        <p:spPr>
          <a:xfrm>
            <a:off x="498348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Files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83480" y="3749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elpris/baseload_analysis.py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data/reports/baseload_ppa_analysis.xlsx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data/reports/insights/baseload_ppa_key_insights.md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Baseload PPA Analysis</dc:title>
  <dc:subject>Solar + Wind + Battery Energy Storage</dc:subject>
  <dc:creator>Energy Analysis</dc:creator>
  <cp:lastModifiedBy>Energy Analysis</cp:lastModifiedBy>
  <cp:revision>1</cp:revision>
  <dcterms:created xsi:type="dcterms:W3CDTF">2025-12-09T17:47:35Z</dcterms:created>
  <dcterms:modified xsi:type="dcterms:W3CDTF">2025-12-09T17:47:35Z</dcterms:modified>
</cp:coreProperties>
</file>